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5" r:id="rId3"/>
    <p:sldMasterId id="2147483676" r:id="rId4"/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https://www.england.nhs.uk/2024/12/world-leading-nhs-trial-to-boost-health-and-support-people-in-work/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https://southyorkshire.icb.nhs.uk/news/south-yorkshire-launches-innovative-health-and-work-programme-help-people-stay-well-learn-and-work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https://www.gov.uk/government/news/south-yorkshire-kicks-off-125-million-plans-to-get-britain-back-to-health-and-work</a:t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GB"/>
              <a:t>Utilise and gain value from existing local directories, rather than building a new one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GB"/>
              <a:t>Enhances the interaction with existing datasets, leveraging value from off-the-shelf AI models which can be used at cost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GB"/>
              <a:t>It is important that any value built from this project is owned within the NHS rather than an external supplier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GB"/>
              <a:t>This is a new solution so the architecture needs to be flexible, with change expected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GB"/>
              <a:t>Easy and low-cost to scale, so that NHS orgs and patients can benefit from it without cost/tech hurdles</a:t>
            </a:r>
            <a:endParaRPr/>
          </a:p>
          <a:p>
            <a:pPr indent="-1524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Developed internally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our Microsoft Azure platform – which is where our data centre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 – Me, Contracted developer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a technical perspective: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/>
              <a:t>We have a Microsoft Azure tenancy where this is built (alongside our other apps and services)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/>
              <a:t>We use Azure to host and provide the compute for AI Models – which means we can choose from a wide range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/>
              <a:t>So far, we’ve used OpenAI models – gtp-4o-mini and text-embedding-3 – cost/performance decision to allow scaling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/>
              <a:t>We’ve utilise Azure AI Search with vectorisation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/>
              <a:t>To run the front-end app and backend services we’ve used App Service and Function Apps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/>
              <a:t>Only the front-end app endpoints are network accessible, with the other services accessible via specifically configured private endpoints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/>
              <a:t>Any questions about the architecture or our decisions</a:t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RAG (Retrieval augmented generation)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Used a mix of search results and AI generation.</a:t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 managed in a SharePoint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Spider and scrape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/>
              <a:t>Gives a national AI agent, local knowledge - Utilise the ability of AI Agents to talk to other AI agents (MCP architecture) to provide locally relevant information to patients using a national tool (NHS App)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Provides higher likelihood that voluntary and community services will be discovered and used by patients, reducing demand on centrally run NHS services.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Devolves ownership and workload for maintaining up-to-date service information down to local level – to the service themselves.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understand you’ve been looking at Agentic approaches?</a:t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/>
              <a:t>Some of the opportunities for Ai to be used today</a:t>
            </a:r>
            <a:endParaRPr/>
          </a:p>
        </p:txBody>
      </p:sp>
      <p:sp>
        <p:nvSpPr>
          <p:cNvPr id="206" name="Google Shape;2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https://service-finder.southyorkshire.nhs.uk/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mental health and wellbeing support services, near Sheffield, for adults aged 18-65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(commissioned OFF)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/>
              <a:t>Map Click: Good Work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/>
              <a:t>Tell me more about Together for Mental Wellbeing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Meklink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NHS App</a:t>
            </a:r>
            <a:endParaRPr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Utilise general LLM capabilities to interrogate the service results with general knowledge and internet searches, to ask (for example):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Tell me more about…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this service suitable for…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public transport is available to get there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far is it from…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the service free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31850" y="841375"/>
            <a:ext cx="105156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2b">
  <p:cSld name="Title A2b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831850" y="841375"/>
            <a:ext cx="105156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type="title"/>
          </p:nvPr>
        </p:nvSpPr>
        <p:spPr>
          <a:xfrm>
            <a:off x="831850" y="841375"/>
            <a:ext cx="105156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844550" y="5075237"/>
            <a:ext cx="10515600" cy="9413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Small" type="titleOnly">
  <p:cSld name="TITLE_ONLY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557349" y="444138"/>
            <a:ext cx="11103428" cy="1088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sz="5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Grey">
  <p:cSld name="Blank Grey">
    <p:bg>
      <p:bgPr>
        <a:solidFill>
          <a:schemeClr val="dk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perBlank Grey">
  <p:cSld name="SuperBlank Grey">
    <p:bg>
      <p:bgPr>
        <a:solidFill>
          <a:schemeClr val="dk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/>
          <p:nvPr/>
        </p:nvSpPr>
        <p:spPr>
          <a:xfrm>
            <a:off x="10367158" y="5807034"/>
            <a:ext cx="1365663" cy="76002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0">
  <p:cSld name="Title A0">
    <p:bg>
      <p:bgPr>
        <a:solidFill>
          <a:schemeClr val="dk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title"/>
          </p:nvPr>
        </p:nvSpPr>
        <p:spPr>
          <a:xfrm>
            <a:off x="831850" y="841375"/>
            <a:ext cx="105156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1">
  <p:cSld name="Title A1">
    <p:bg>
      <p:bgPr>
        <a:solidFill>
          <a:schemeClr val="accen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"/>
          <p:cNvSpPr txBox="1"/>
          <p:nvPr>
            <p:ph type="title"/>
          </p:nvPr>
        </p:nvSpPr>
        <p:spPr>
          <a:xfrm>
            <a:off x="831850" y="841375"/>
            <a:ext cx="105156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2">
  <p:cSld name="Title A2">
    <p:bg>
      <p:bgPr>
        <a:solidFill>
          <a:schemeClr val="accent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/>
          <p:nvPr>
            <p:ph type="title"/>
          </p:nvPr>
        </p:nvSpPr>
        <p:spPr>
          <a:xfrm>
            <a:off x="831850" y="841375"/>
            <a:ext cx="105156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3">
  <p:cSld name="Title A3">
    <p:bg>
      <p:bgPr>
        <a:solidFill>
          <a:schemeClr val="accent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1850" y="841375"/>
            <a:ext cx="105156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4">
  <p:cSld name="Title A4">
    <p:bg>
      <p:bgPr>
        <a:solidFill>
          <a:schemeClr val="accent5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1850" y="841375"/>
            <a:ext cx="105156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4b">
  <p:cSld name="Title A4b">
    <p:bg>
      <p:bgPr>
        <a:solidFill>
          <a:schemeClr val="accent6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/>
          <p:nvPr>
            <p:ph type="title"/>
          </p:nvPr>
        </p:nvSpPr>
        <p:spPr>
          <a:xfrm>
            <a:off x="831850" y="841375"/>
            <a:ext cx="105156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type="title"/>
          </p:nvPr>
        </p:nvSpPr>
        <p:spPr>
          <a:xfrm>
            <a:off x="831850" y="841375"/>
            <a:ext cx="105156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" type="body"/>
          </p:nvPr>
        </p:nvSpPr>
        <p:spPr>
          <a:xfrm>
            <a:off x="844550" y="5075237"/>
            <a:ext cx="10515600" cy="9413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6" name="Google Shape;36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11129" y="5883965"/>
            <a:ext cx="1217820" cy="60891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5" name="Google Shape;75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11129" y="5883965"/>
            <a:ext cx="1217820" cy="60891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6"/>
          <p:cNvSpPr txBox="1"/>
          <p:nvPr/>
        </p:nvSpPr>
        <p:spPr>
          <a:xfrm>
            <a:off x="4406900" y="63500"/>
            <a:ext cx="34210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***CORPORATE - Recipients Have Full Control***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ervice-finder.southyorkshire.nhs.uk/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service-finder.southyorkshire.nhs.uk/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ervice-finder.southyorkshire.nhs.uk/" TargetMode="External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service-finder.southyorkshire.nhs.uk/" TargetMode="External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7023" y="951467"/>
            <a:ext cx="3557954" cy="1501247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35000" kx="0" rotWithShape="0" algn="bl" stA="10000" stPos="0" sy="-100000" ky="0"/>
          </a:effectLst>
        </p:spPr>
      </p:pic>
      <p:sp>
        <p:nvSpPr>
          <p:cNvPr id="94" name="Google Shape;94;p31"/>
          <p:cNvSpPr txBox="1"/>
          <p:nvPr/>
        </p:nvSpPr>
        <p:spPr>
          <a:xfrm>
            <a:off x="1354016" y="2944737"/>
            <a:ext cx="9483969" cy="144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800" u="none" cap="none" strike="noStrike">
                <a:solidFill>
                  <a:srgbClr val="003087"/>
                </a:solidFill>
                <a:latin typeface="Arial"/>
                <a:ea typeface="Arial"/>
                <a:cs typeface="Arial"/>
                <a:sym typeface="Arial"/>
              </a:rPr>
              <a:t>Using AI to discover and present </a:t>
            </a:r>
            <a:br>
              <a:rPr b="1" i="0" lang="en-GB" sz="4800" u="none" cap="none" strike="noStrike">
                <a:solidFill>
                  <a:srgbClr val="0030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4800" u="none" cap="none" strike="noStrike">
                <a:solidFill>
                  <a:srgbClr val="003087"/>
                </a:solidFill>
                <a:latin typeface="Arial"/>
                <a:ea typeface="Arial"/>
                <a:cs typeface="Arial"/>
                <a:sym typeface="Arial"/>
              </a:rPr>
              <a:t>local NHS and healthcare services</a:t>
            </a:r>
            <a:endParaRPr/>
          </a:p>
        </p:txBody>
      </p:sp>
      <p:sp>
        <p:nvSpPr>
          <p:cNvPr id="95" name="Google Shape;95;p31"/>
          <p:cNvSpPr txBox="1"/>
          <p:nvPr/>
        </p:nvSpPr>
        <p:spPr>
          <a:xfrm>
            <a:off x="1354016" y="4550017"/>
            <a:ext cx="9483969" cy="1266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003087"/>
                </a:solidFill>
                <a:latin typeface="Arial"/>
                <a:ea typeface="Arial"/>
                <a:cs typeface="Arial"/>
                <a:sym typeface="Arial"/>
              </a:rPr>
              <a:t>Peter Thompson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003087"/>
                </a:solidFill>
                <a:latin typeface="Arial"/>
                <a:ea typeface="Arial"/>
                <a:cs typeface="Arial"/>
                <a:sym typeface="Arial"/>
              </a:rPr>
              <a:t>Head of Software and Cloud Architecture</a:t>
            </a:r>
            <a:br>
              <a:rPr b="0" i="0" lang="en-GB" sz="2800" u="none" cap="none" strike="noStrike">
                <a:solidFill>
                  <a:srgbClr val="0030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2800" u="none" cap="none" strike="noStrike">
                <a:solidFill>
                  <a:srgbClr val="003087"/>
                </a:solidFill>
                <a:latin typeface="Arial"/>
                <a:ea typeface="Arial"/>
                <a:cs typeface="Arial"/>
                <a:sym typeface="Arial"/>
              </a:rPr>
              <a:t>NHS South Yorkshire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08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2"/>
          <p:cNvSpPr txBox="1"/>
          <p:nvPr>
            <p:ph type="title"/>
          </p:nvPr>
        </p:nvSpPr>
        <p:spPr>
          <a:xfrm>
            <a:off x="831850" y="841375"/>
            <a:ext cx="1051560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GB"/>
              <a:t>South Yorkshire </a:t>
            </a:r>
            <a:br>
              <a:rPr lang="en-GB"/>
            </a:br>
            <a:r>
              <a:rPr lang="en-GB"/>
              <a:t>Growth Accelerator</a:t>
            </a:r>
            <a:endParaRPr/>
          </a:p>
        </p:txBody>
      </p:sp>
      <p:sp>
        <p:nvSpPr>
          <p:cNvPr id="102" name="Google Shape;102;p32"/>
          <p:cNvSpPr txBox="1"/>
          <p:nvPr>
            <p:ph idx="4294967295" type="body"/>
          </p:nvPr>
        </p:nvSpPr>
        <p:spPr>
          <a:xfrm>
            <a:off x="954088" y="2393950"/>
            <a:ext cx="10283825" cy="338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South Yorkshire was identified as one of five pilot programmes across England to support accelerated return to work programmes. </a:t>
            </a:r>
            <a:br>
              <a:rPr lang="en-GB" sz="360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SY ICB was tasked with identifying and support people in South Yorkshire who are at risk of going on long-term sick due to physical and mental health issues. The initiative is designed to refer those on the programme </a:t>
            </a:r>
            <a:br>
              <a:rPr lang="en-GB" sz="360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to relevant and commissioned local services who could </a:t>
            </a:r>
            <a:br>
              <a:rPr lang="en-GB" sz="360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improve their likelihood of returning to work.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08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3"/>
          <p:cNvSpPr txBox="1"/>
          <p:nvPr>
            <p:ph type="title"/>
          </p:nvPr>
        </p:nvSpPr>
        <p:spPr>
          <a:xfrm>
            <a:off x="831850" y="1404202"/>
            <a:ext cx="10515600" cy="829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GB"/>
              <a:t>Purpose</a:t>
            </a:r>
            <a:endParaRPr/>
          </a:p>
        </p:txBody>
      </p:sp>
      <p:sp>
        <p:nvSpPr>
          <p:cNvPr id="108" name="Google Shape;108;p33"/>
          <p:cNvSpPr txBox="1"/>
          <p:nvPr>
            <p:ph idx="4294967295" type="body"/>
          </p:nvPr>
        </p:nvSpPr>
        <p:spPr>
          <a:xfrm>
            <a:off x="2054225" y="2346711"/>
            <a:ext cx="8083550" cy="315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GB" sz="3600"/>
              <a:t>digital service</a:t>
            </a: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 to enable </a:t>
            </a:r>
            <a:br>
              <a:rPr lang="en-GB" sz="360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case worker staff to </a:t>
            </a:r>
            <a:r>
              <a:rPr b="1" lang="en-GB" sz="3600"/>
              <a:t>discover</a:t>
            </a: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 and recommended </a:t>
            </a:r>
            <a:r>
              <a:rPr b="1" lang="en-GB" sz="3600"/>
              <a:t>local services</a:t>
            </a: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 in </a:t>
            </a:r>
            <a:br>
              <a:rPr lang="en-GB" sz="360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South Yorkshire to patients on the </a:t>
            </a:r>
            <a:br>
              <a:rPr lang="en-GB" sz="360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Growth Accelerator programme.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D35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4"/>
          <p:cNvSpPr txBox="1"/>
          <p:nvPr>
            <p:ph type="title"/>
          </p:nvPr>
        </p:nvSpPr>
        <p:spPr>
          <a:xfrm>
            <a:off x="831850" y="867752"/>
            <a:ext cx="10515600" cy="987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GB"/>
              <a:t>5 Goals &amp; Principles</a:t>
            </a:r>
            <a:endParaRPr/>
          </a:p>
        </p:txBody>
      </p:sp>
      <p:sp>
        <p:nvSpPr>
          <p:cNvPr id="115" name="Google Shape;115;p34"/>
          <p:cNvSpPr txBox="1"/>
          <p:nvPr>
            <p:ph idx="4294967295" type="body"/>
          </p:nvPr>
        </p:nvSpPr>
        <p:spPr>
          <a:xfrm>
            <a:off x="954088" y="2042258"/>
            <a:ext cx="10283825" cy="338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742950" lvl="0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AutoNum type="arabicPeriod"/>
            </a:pPr>
            <a:r>
              <a:rPr lang="en-GB" sz="3600"/>
              <a:t>Utilise existing directories &amp; knowledge</a:t>
            </a:r>
            <a:endParaRPr/>
          </a:p>
          <a:p>
            <a:pPr indent="-742950" lvl="0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AutoNum type="arabicPeriod"/>
            </a:pPr>
            <a:r>
              <a:rPr lang="en-GB" sz="3600"/>
              <a:t>Utilise proven AI models, with customisation, to understand intent and deliver better results</a:t>
            </a:r>
            <a:endParaRPr/>
          </a:p>
          <a:p>
            <a:pPr indent="-742950" lvl="0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AutoNum type="arabicPeriod"/>
            </a:pPr>
            <a:r>
              <a:rPr lang="en-GB" sz="3600"/>
              <a:t>Maintain data ownership and the value from it</a:t>
            </a:r>
            <a:endParaRPr/>
          </a:p>
          <a:p>
            <a:pPr indent="-742950" lvl="0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AutoNum type="arabicPeriod"/>
            </a:pPr>
            <a:r>
              <a:rPr lang="en-GB" sz="3600"/>
              <a:t>Design for change and avoid lock-in</a:t>
            </a:r>
            <a:endParaRPr/>
          </a:p>
          <a:p>
            <a:pPr indent="-742950" lvl="0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AutoNum type="arabicPeriod"/>
            </a:pPr>
            <a:r>
              <a:rPr lang="en-GB" sz="3600"/>
              <a:t>Enable scaling and sharing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/>
          <p:nvPr/>
        </p:nvSpPr>
        <p:spPr>
          <a:xfrm>
            <a:off x="3091406" y="3844228"/>
            <a:ext cx="5760000" cy="900000"/>
          </a:xfrm>
          <a:prstGeom prst="roundRect">
            <a:avLst>
              <a:gd fmla="val 3409" name="adj"/>
            </a:avLst>
          </a:prstGeom>
          <a:solidFill>
            <a:schemeClr val="accent2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 Index</a:t>
            </a:r>
            <a:endParaRPr/>
          </a:p>
        </p:txBody>
      </p:sp>
      <p:sp>
        <p:nvSpPr>
          <p:cNvPr id="122" name="Google Shape;122;p35"/>
          <p:cNvSpPr/>
          <p:nvPr/>
        </p:nvSpPr>
        <p:spPr>
          <a:xfrm>
            <a:off x="3091406" y="1961662"/>
            <a:ext cx="5760000" cy="900000"/>
          </a:xfrm>
          <a:prstGeom prst="roundRect">
            <a:avLst>
              <a:gd fmla="val 3031" name="adj"/>
            </a:avLst>
          </a:prstGeom>
          <a:solidFill>
            <a:schemeClr val="accent3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Familiar chat interface</a:t>
            </a:r>
            <a:endParaRPr/>
          </a:p>
        </p:txBody>
      </p:sp>
      <p:sp>
        <p:nvSpPr>
          <p:cNvPr id="123" name="Google Shape;123;p35"/>
          <p:cNvSpPr/>
          <p:nvPr/>
        </p:nvSpPr>
        <p:spPr>
          <a:xfrm>
            <a:off x="3091406" y="2902945"/>
            <a:ext cx="5760000" cy="900000"/>
          </a:xfrm>
          <a:prstGeom prst="roundRect">
            <a:avLst>
              <a:gd fmla="val 3409" name="adj"/>
            </a:avLst>
          </a:prstGeom>
          <a:solidFill>
            <a:schemeClr val="accent4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LLM Interpretation Layer</a:t>
            </a:r>
            <a:endParaRPr/>
          </a:p>
        </p:txBody>
      </p:sp>
      <p:sp>
        <p:nvSpPr>
          <p:cNvPr id="124" name="Google Shape;124;p35"/>
          <p:cNvSpPr txBox="1"/>
          <p:nvPr>
            <p:ph type="title"/>
          </p:nvPr>
        </p:nvSpPr>
        <p:spPr>
          <a:xfrm>
            <a:off x="831850" y="641869"/>
            <a:ext cx="10515600" cy="10608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GB"/>
              <a:t>Solution Components</a:t>
            </a:r>
            <a:endParaRPr/>
          </a:p>
        </p:txBody>
      </p:sp>
      <p:sp>
        <p:nvSpPr>
          <p:cNvPr descr="Database with solid fill" id="125" name="Google Shape;125;p35"/>
          <p:cNvSpPr/>
          <p:nvPr/>
        </p:nvSpPr>
        <p:spPr>
          <a:xfrm>
            <a:off x="3473671" y="3961634"/>
            <a:ext cx="720000" cy="720000"/>
          </a:xfrm>
          <a:prstGeom prst="rect">
            <a:avLst/>
          </a:prstGeom>
          <a:noFill/>
          <a:ln>
            <a:noFill/>
          </a:ln>
        </p:spPr>
      </p:sp>
      <p:sp>
        <p:nvSpPr>
          <p:cNvPr descr="Ui Ux with solid fill" id="126" name="Google Shape;126;p35"/>
          <p:cNvSpPr/>
          <p:nvPr/>
        </p:nvSpPr>
        <p:spPr>
          <a:xfrm>
            <a:off x="3473671" y="2058892"/>
            <a:ext cx="720000" cy="7200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rtificial Intelligence with solid fill" id="127" name="Google Shape;127;p35"/>
          <p:cNvSpPr/>
          <p:nvPr/>
        </p:nvSpPr>
        <p:spPr>
          <a:xfrm>
            <a:off x="3473671" y="3010263"/>
            <a:ext cx="720000" cy="72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35"/>
          <p:cNvSpPr/>
          <p:nvPr/>
        </p:nvSpPr>
        <p:spPr>
          <a:xfrm>
            <a:off x="3091406" y="4785510"/>
            <a:ext cx="5760000" cy="900000"/>
          </a:xfrm>
          <a:prstGeom prst="roundRect">
            <a:avLst>
              <a:gd fmla="val 3409" name="adj"/>
            </a:avLst>
          </a:prstGeom>
          <a:solidFill>
            <a:srgbClr val="821A56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Automated Service Updates</a:t>
            </a:r>
            <a:endParaRPr/>
          </a:p>
        </p:txBody>
      </p:sp>
      <p:sp>
        <p:nvSpPr>
          <p:cNvPr descr="Clock with solid fill" id="129" name="Google Shape;129;p35"/>
          <p:cNvSpPr/>
          <p:nvPr/>
        </p:nvSpPr>
        <p:spPr>
          <a:xfrm>
            <a:off x="3473671" y="4913004"/>
            <a:ext cx="720000" cy="72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6"/>
          <p:cNvSpPr txBox="1"/>
          <p:nvPr>
            <p:ph type="title"/>
          </p:nvPr>
        </p:nvSpPr>
        <p:spPr>
          <a:xfrm>
            <a:off x="838200" y="612739"/>
            <a:ext cx="10515600" cy="93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GB"/>
              <a:t>Software Development</a:t>
            </a:r>
            <a:endParaRPr/>
          </a:p>
        </p:txBody>
      </p:sp>
      <p:pic>
        <p:nvPicPr>
          <p:cNvPr id="136" name="Google Shape;13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5419" y="1483360"/>
            <a:ext cx="7881162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6"/>
          <p:cNvSpPr txBox="1"/>
          <p:nvPr/>
        </p:nvSpPr>
        <p:spPr>
          <a:xfrm>
            <a:off x="838200" y="1208405"/>
            <a:ext cx="10515600" cy="93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6"/>
          <p:cNvSpPr txBox="1"/>
          <p:nvPr/>
        </p:nvSpPr>
        <p:spPr>
          <a:xfrm>
            <a:off x="838200" y="5181526"/>
            <a:ext cx="10515600" cy="93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b="1" i="0" lang="en-GB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Agile approach: Microsoft Azure Platform,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b="1" i="0" lang="en-GB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Architect, 1 Developer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/>
          <p:nvPr/>
        </p:nvSpPr>
        <p:spPr>
          <a:xfrm>
            <a:off x="6862290" y="3425247"/>
            <a:ext cx="3196115" cy="1055043"/>
          </a:xfrm>
          <a:prstGeom prst="roundRect">
            <a:avLst>
              <a:gd fmla="val 3409" name="adj"/>
            </a:avLst>
          </a:prstGeom>
          <a:solidFill>
            <a:srgbClr val="7F99AD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ctr" bIns="46800" lIns="1260000" spcFirstLastPara="1" rIns="180000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Data and Online Sources</a:t>
            </a:r>
            <a:endParaRPr/>
          </a:p>
        </p:txBody>
      </p:sp>
      <p:sp>
        <p:nvSpPr>
          <p:cNvPr id="145" name="Google Shape;145;p37"/>
          <p:cNvSpPr/>
          <p:nvPr/>
        </p:nvSpPr>
        <p:spPr>
          <a:xfrm>
            <a:off x="2006236" y="2263761"/>
            <a:ext cx="1620000" cy="2160000"/>
          </a:xfrm>
          <a:prstGeom prst="roundRect">
            <a:avLst>
              <a:gd fmla="val 3031" name="adj"/>
            </a:avLst>
          </a:prstGeom>
          <a:solidFill>
            <a:schemeClr val="accent3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t" bIns="46800" lIns="180000" spcFirstLastPara="1" rIns="180000" wrap="square" tIns="10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Staff search on condition or need</a:t>
            </a:r>
            <a:endParaRPr/>
          </a:p>
        </p:txBody>
      </p:sp>
      <p:sp>
        <p:nvSpPr>
          <p:cNvPr id="146" name="Google Shape;146;p37"/>
          <p:cNvSpPr/>
          <p:nvPr/>
        </p:nvSpPr>
        <p:spPr>
          <a:xfrm>
            <a:off x="4348830" y="2263761"/>
            <a:ext cx="1620000" cy="2160000"/>
          </a:xfrm>
          <a:prstGeom prst="roundRect">
            <a:avLst>
              <a:gd fmla="val 3409" name="adj"/>
            </a:avLst>
          </a:prstGeom>
          <a:solidFill>
            <a:schemeClr val="accent4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t" bIns="46800" lIns="180000" spcFirstLastPara="1" rIns="180000" wrap="square" tIns="10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interprets requests and formats results</a:t>
            </a:r>
            <a:endParaRPr/>
          </a:p>
        </p:txBody>
      </p:sp>
      <p:sp>
        <p:nvSpPr>
          <p:cNvPr id="147" name="Google Shape;147;p37"/>
          <p:cNvSpPr txBox="1"/>
          <p:nvPr>
            <p:ph type="title"/>
          </p:nvPr>
        </p:nvSpPr>
        <p:spPr>
          <a:xfrm>
            <a:off x="831850" y="828480"/>
            <a:ext cx="10515600" cy="105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GB"/>
              <a:t>Frontend</a:t>
            </a:r>
            <a:endParaRPr/>
          </a:p>
        </p:txBody>
      </p:sp>
      <p:sp>
        <p:nvSpPr>
          <p:cNvPr descr="Ui Ux with solid fill" id="148" name="Google Shape;148;p37"/>
          <p:cNvSpPr/>
          <p:nvPr/>
        </p:nvSpPr>
        <p:spPr>
          <a:xfrm>
            <a:off x="2359036" y="2432682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rtificial Intelligence with solid fill" id="149" name="Google Shape;149;p37"/>
          <p:cNvSpPr/>
          <p:nvPr/>
        </p:nvSpPr>
        <p:spPr>
          <a:xfrm>
            <a:off x="4720737" y="2379638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descr="Cloud with solid fill" id="150" name="Google Shape;150;p37"/>
          <p:cNvSpPr/>
          <p:nvPr/>
        </p:nvSpPr>
        <p:spPr>
          <a:xfrm>
            <a:off x="7028206" y="3455420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7"/>
          <p:cNvSpPr/>
          <p:nvPr/>
        </p:nvSpPr>
        <p:spPr>
          <a:xfrm>
            <a:off x="6862290" y="2233592"/>
            <a:ext cx="3196115" cy="1037941"/>
          </a:xfrm>
          <a:prstGeom prst="roundRect">
            <a:avLst>
              <a:gd fmla="val 3409" name="adj"/>
            </a:avLst>
          </a:prstGeom>
          <a:solidFill>
            <a:schemeClr val="accent2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ctr" bIns="46800" lIns="1260000" spcFirstLastPara="1" rIns="180000" wrap="square" tIns="108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Results retrieved from service index</a:t>
            </a:r>
            <a:endParaRPr/>
          </a:p>
        </p:txBody>
      </p:sp>
      <p:sp>
        <p:nvSpPr>
          <p:cNvPr descr="Database with solid fill" id="152" name="Google Shape;152;p37"/>
          <p:cNvSpPr/>
          <p:nvPr/>
        </p:nvSpPr>
        <p:spPr>
          <a:xfrm>
            <a:off x="7037769" y="2315978"/>
            <a:ext cx="914400" cy="914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53" name="Google Shape;153;p37"/>
          <p:cNvCxnSpPr/>
          <p:nvPr/>
        </p:nvCxnSpPr>
        <p:spPr>
          <a:xfrm>
            <a:off x="3747999" y="2898622"/>
            <a:ext cx="462666" cy="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4" name="Google Shape;154;p37"/>
          <p:cNvCxnSpPr/>
          <p:nvPr/>
        </p:nvCxnSpPr>
        <p:spPr>
          <a:xfrm>
            <a:off x="6092667" y="2754792"/>
            <a:ext cx="720000" cy="18386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5" name="Google Shape;155;p37"/>
          <p:cNvCxnSpPr/>
          <p:nvPr/>
        </p:nvCxnSpPr>
        <p:spPr>
          <a:xfrm>
            <a:off x="6092667" y="3922324"/>
            <a:ext cx="720000" cy="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6" name="Google Shape;156;p37"/>
          <p:cNvCxnSpPr/>
          <p:nvPr/>
        </p:nvCxnSpPr>
        <p:spPr>
          <a:xfrm>
            <a:off x="3686214" y="3662830"/>
            <a:ext cx="462666" cy="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miter lim="8000"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D7484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/>
          <p:nvPr/>
        </p:nvSpPr>
        <p:spPr>
          <a:xfrm>
            <a:off x="3067669" y="1760948"/>
            <a:ext cx="1620000" cy="1980000"/>
          </a:xfrm>
          <a:prstGeom prst="roundRect">
            <a:avLst>
              <a:gd fmla="val 4167" name="adj"/>
            </a:avLst>
          </a:prstGeom>
          <a:solidFill>
            <a:schemeClr val="accent1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t" bIns="46800" lIns="180000" spcFirstLastPara="1" rIns="180000" wrap="square" tIns="10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Scrape and Spider sources list</a:t>
            </a:r>
            <a:endParaRPr/>
          </a:p>
        </p:txBody>
      </p:sp>
      <p:sp>
        <p:nvSpPr>
          <p:cNvPr id="163" name="Google Shape;163;p38"/>
          <p:cNvSpPr/>
          <p:nvPr/>
        </p:nvSpPr>
        <p:spPr>
          <a:xfrm>
            <a:off x="831850" y="1760948"/>
            <a:ext cx="1620000" cy="1980000"/>
          </a:xfrm>
          <a:prstGeom prst="roundRect">
            <a:avLst>
              <a:gd fmla="val 3409" name="adj"/>
            </a:avLst>
          </a:prstGeom>
          <a:solidFill>
            <a:srgbClr val="821A56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t" bIns="46800" lIns="180000" spcFirstLastPara="1" rIns="180000" wrap="square" tIns="108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Scheduled Updates</a:t>
            </a:r>
            <a:endParaRPr/>
          </a:p>
        </p:txBody>
      </p:sp>
      <p:sp>
        <p:nvSpPr>
          <p:cNvPr id="164" name="Google Shape;164;p38"/>
          <p:cNvSpPr txBox="1"/>
          <p:nvPr>
            <p:ph type="title"/>
          </p:nvPr>
        </p:nvSpPr>
        <p:spPr>
          <a:xfrm>
            <a:off x="831850" y="417202"/>
            <a:ext cx="10515600" cy="105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GB"/>
              <a:t>Backend</a:t>
            </a:r>
            <a:endParaRPr/>
          </a:p>
        </p:txBody>
      </p:sp>
      <p:sp>
        <p:nvSpPr>
          <p:cNvPr descr="CheckList with solid fill" id="165" name="Google Shape;165;p38"/>
          <p:cNvSpPr/>
          <p:nvPr/>
        </p:nvSpPr>
        <p:spPr>
          <a:xfrm>
            <a:off x="3420469" y="1865089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descr="Clock with solid fill" id="166" name="Google Shape;166;p38"/>
          <p:cNvSpPr/>
          <p:nvPr/>
        </p:nvSpPr>
        <p:spPr>
          <a:xfrm>
            <a:off x="1184650" y="1884492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8"/>
          <p:cNvSpPr/>
          <p:nvPr/>
        </p:nvSpPr>
        <p:spPr>
          <a:xfrm>
            <a:off x="7539307" y="1760949"/>
            <a:ext cx="1620000" cy="1980000"/>
          </a:xfrm>
          <a:prstGeom prst="roundRect">
            <a:avLst>
              <a:gd fmla="val 3409" name="adj"/>
            </a:avLst>
          </a:prstGeom>
          <a:solidFill>
            <a:srgbClr val="3B9EFF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t" bIns="46800" lIns="180000" spcFirstLastPara="1" rIns="180000" wrap="square" tIns="10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JSON Service Summaries</a:t>
            </a:r>
            <a:endParaRPr/>
          </a:p>
        </p:txBody>
      </p:sp>
      <p:sp>
        <p:nvSpPr>
          <p:cNvPr descr="Document with solid fill" id="168" name="Google Shape;168;p38"/>
          <p:cNvSpPr/>
          <p:nvPr/>
        </p:nvSpPr>
        <p:spPr>
          <a:xfrm>
            <a:off x="7892107" y="1884494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8"/>
          <p:cNvSpPr/>
          <p:nvPr/>
        </p:nvSpPr>
        <p:spPr>
          <a:xfrm>
            <a:off x="5303488" y="1762912"/>
            <a:ext cx="1620000" cy="1980000"/>
          </a:xfrm>
          <a:prstGeom prst="roundRect">
            <a:avLst>
              <a:gd fmla="val 3409" name="adj"/>
            </a:avLst>
          </a:prstGeom>
          <a:solidFill>
            <a:schemeClr val="accent4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t" bIns="46800" lIns="180000" spcFirstLastPara="1" rIns="180000" wrap="square" tIns="10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scraping &amp; summaries</a:t>
            </a:r>
            <a:endParaRPr/>
          </a:p>
        </p:txBody>
      </p:sp>
      <p:sp>
        <p:nvSpPr>
          <p:cNvPr descr="Artificial Intelligence with solid fill" id="170" name="Google Shape;170;p38"/>
          <p:cNvSpPr/>
          <p:nvPr/>
        </p:nvSpPr>
        <p:spPr>
          <a:xfrm>
            <a:off x="5656288" y="1884492"/>
            <a:ext cx="914400" cy="914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71" name="Google Shape;171;p38"/>
          <p:cNvCxnSpPr/>
          <p:nvPr/>
        </p:nvCxnSpPr>
        <p:spPr>
          <a:xfrm rot="10800000">
            <a:off x="2555379" y="2327996"/>
            <a:ext cx="457201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med" w="med" type="triangle"/>
            <a:tailEnd len="sm" w="sm" type="none"/>
          </a:ln>
        </p:spPr>
      </p:cxnSp>
      <p:cxnSp>
        <p:nvCxnSpPr>
          <p:cNvPr id="172" name="Google Shape;172;p38"/>
          <p:cNvCxnSpPr/>
          <p:nvPr/>
        </p:nvCxnSpPr>
        <p:spPr>
          <a:xfrm>
            <a:off x="6160622" y="3946743"/>
            <a:ext cx="0" cy="575135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descr="Cloud with solid fill" id="173" name="Google Shape;173;p38"/>
          <p:cNvSpPr/>
          <p:nvPr/>
        </p:nvSpPr>
        <p:spPr>
          <a:xfrm>
            <a:off x="5703422" y="4494174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8"/>
          <p:cNvSpPr txBox="1"/>
          <p:nvPr/>
        </p:nvSpPr>
        <p:spPr>
          <a:xfrm>
            <a:off x="5526728" y="5245469"/>
            <a:ext cx="1285628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Online Sources</a:t>
            </a:r>
            <a:endParaRPr/>
          </a:p>
        </p:txBody>
      </p:sp>
      <p:cxnSp>
        <p:nvCxnSpPr>
          <p:cNvPr id="175" name="Google Shape;175;p38"/>
          <p:cNvCxnSpPr/>
          <p:nvPr/>
        </p:nvCxnSpPr>
        <p:spPr>
          <a:xfrm rot="5400000">
            <a:off x="9991555" y="4203094"/>
            <a:ext cx="914700" cy="402000"/>
          </a:xfrm>
          <a:prstGeom prst="bentConnector3">
            <a:avLst>
              <a:gd fmla="val 99020" name="adj1"/>
            </a:avLst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6" name="Google Shape;176;p38"/>
          <p:cNvCxnSpPr/>
          <p:nvPr/>
        </p:nvCxnSpPr>
        <p:spPr>
          <a:xfrm rot="10800000">
            <a:off x="4823151" y="2311730"/>
            <a:ext cx="457201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med" w="med" type="triangle"/>
            <a:tailEnd len="sm" w="sm" type="none"/>
          </a:ln>
        </p:spPr>
      </p:cxnSp>
      <p:sp>
        <p:nvSpPr>
          <p:cNvPr id="177" name="Google Shape;177;p38"/>
          <p:cNvSpPr/>
          <p:nvPr/>
        </p:nvSpPr>
        <p:spPr>
          <a:xfrm>
            <a:off x="9775128" y="1760948"/>
            <a:ext cx="1620000" cy="1980000"/>
          </a:xfrm>
          <a:prstGeom prst="roundRect">
            <a:avLst>
              <a:gd fmla="val 3409" name="adj"/>
            </a:avLst>
          </a:prstGeom>
          <a:solidFill>
            <a:schemeClr val="accent2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t" bIns="46800" lIns="180000" spcFirstLastPara="1" rIns="180000" wrap="square" tIns="10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Semantic and Vectorised Indexing</a:t>
            </a:r>
            <a:endParaRPr/>
          </a:p>
        </p:txBody>
      </p:sp>
      <p:sp>
        <p:nvSpPr>
          <p:cNvPr descr="Database with solid fill" id="178" name="Google Shape;178;p38"/>
          <p:cNvSpPr/>
          <p:nvPr/>
        </p:nvSpPr>
        <p:spPr>
          <a:xfrm>
            <a:off x="10127928" y="1884493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8"/>
          <p:cNvSpPr/>
          <p:nvPr/>
        </p:nvSpPr>
        <p:spPr>
          <a:xfrm>
            <a:off x="8401844" y="4040174"/>
            <a:ext cx="1620000" cy="1800000"/>
          </a:xfrm>
          <a:prstGeom prst="roundRect">
            <a:avLst>
              <a:gd fmla="val 3409" name="adj"/>
            </a:avLst>
          </a:prstGeom>
          <a:solidFill>
            <a:schemeClr val="accent4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t" bIns="46800" lIns="180000" spcFirstLastPara="1" rIns="180000" wrap="square" tIns="10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OpenAI Text Embedding</a:t>
            </a:r>
            <a:endParaRPr/>
          </a:p>
        </p:txBody>
      </p:sp>
      <p:sp>
        <p:nvSpPr>
          <p:cNvPr descr="Artificial Intelligence with solid fill" id="180" name="Google Shape;180;p38"/>
          <p:cNvSpPr/>
          <p:nvPr/>
        </p:nvSpPr>
        <p:spPr>
          <a:xfrm>
            <a:off x="8754644" y="4161753"/>
            <a:ext cx="914400" cy="914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81" name="Google Shape;181;p38"/>
          <p:cNvCxnSpPr/>
          <p:nvPr/>
        </p:nvCxnSpPr>
        <p:spPr>
          <a:xfrm rot="10800000">
            <a:off x="7008515" y="2284905"/>
            <a:ext cx="457201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med" w="med" type="triangle"/>
            <a:tailEnd len="sm" w="sm" type="none"/>
          </a:ln>
        </p:spPr>
      </p:cxnSp>
      <p:cxnSp>
        <p:nvCxnSpPr>
          <p:cNvPr id="182" name="Google Shape;182;p38"/>
          <p:cNvCxnSpPr/>
          <p:nvPr/>
        </p:nvCxnSpPr>
        <p:spPr>
          <a:xfrm rot="10800000">
            <a:off x="9254863" y="2294317"/>
            <a:ext cx="457201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9"/>
          <p:cNvSpPr txBox="1"/>
          <p:nvPr>
            <p:ph type="title"/>
          </p:nvPr>
        </p:nvSpPr>
        <p:spPr>
          <a:xfrm>
            <a:off x="557349" y="972947"/>
            <a:ext cx="11103428" cy="1088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GB" sz="6000"/>
              <a:t>Agentic Integration</a:t>
            </a:r>
            <a:endParaRPr sz="6000"/>
          </a:p>
        </p:txBody>
      </p:sp>
      <p:sp>
        <p:nvSpPr>
          <p:cNvPr id="189" name="Google Shape;189;p39"/>
          <p:cNvSpPr/>
          <p:nvPr/>
        </p:nvSpPr>
        <p:spPr>
          <a:xfrm>
            <a:off x="7453363" y="3815162"/>
            <a:ext cx="3643443" cy="1080000"/>
          </a:xfrm>
          <a:prstGeom prst="roundRect">
            <a:avLst>
              <a:gd fmla="val 4167" name="adj"/>
            </a:avLst>
          </a:prstGeom>
          <a:solidFill>
            <a:schemeClr val="accent1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ctr" bIns="180000" lIns="10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Results from local service directories</a:t>
            </a:r>
            <a:endParaRPr/>
          </a:p>
        </p:txBody>
      </p:sp>
      <p:sp>
        <p:nvSpPr>
          <p:cNvPr id="190" name="Google Shape;190;p39"/>
          <p:cNvSpPr/>
          <p:nvPr/>
        </p:nvSpPr>
        <p:spPr>
          <a:xfrm>
            <a:off x="1261508" y="2489972"/>
            <a:ext cx="1620000" cy="2160000"/>
          </a:xfrm>
          <a:prstGeom prst="roundRect">
            <a:avLst>
              <a:gd fmla="val 3031" name="adj"/>
            </a:avLst>
          </a:prstGeom>
          <a:solidFill>
            <a:schemeClr val="accent3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t" bIns="46800" lIns="180000" spcFirstLastPara="1" rIns="180000" wrap="square" tIns="10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Users interact with AI Chat Tool in NHS App</a:t>
            </a:r>
            <a:endParaRPr/>
          </a:p>
        </p:txBody>
      </p:sp>
      <p:sp>
        <p:nvSpPr>
          <p:cNvPr id="191" name="Google Shape;191;p39"/>
          <p:cNvSpPr/>
          <p:nvPr/>
        </p:nvSpPr>
        <p:spPr>
          <a:xfrm>
            <a:off x="3531597" y="2489972"/>
            <a:ext cx="1620000" cy="2160000"/>
          </a:xfrm>
          <a:prstGeom prst="roundRect">
            <a:avLst>
              <a:gd fmla="val 3409" name="adj"/>
            </a:avLst>
          </a:prstGeom>
          <a:solidFill>
            <a:schemeClr val="accent4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t" bIns="46800" lIns="180000" spcFirstLastPara="1" rIns="180000" wrap="square" tIns="10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National AI LLM provides general advice</a:t>
            </a:r>
            <a:endParaRPr/>
          </a:p>
        </p:txBody>
      </p:sp>
      <p:sp>
        <p:nvSpPr>
          <p:cNvPr descr="Smart Phone with solid fill" id="192" name="Google Shape;192;p39"/>
          <p:cNvSpPr/>
          <p:nvPr/>
        </p:nvSpPr>
        <p:spPr>
          <a:xfrm>
            <a:off x="1614308" y="2658893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rtificial Intelligence with solid fill" id="193" name="Google Shape;193;p39"/>
          <p:cNvSpPr/>
          <p:nvPr/>
        </p:nvSpPr>
        <p:spPr>
          <a:xfrm>
            <a:off x="3915862" y="2618206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9"/>
          <p:cNvSpPr/>
          <p:nvPr/>
        </p:nvSpPr>
        <p:spPr>
          <a:xfrm>
            <a:off x="5871028" y="2489972"/>
            <a:ext cx="3643444" cy="1028190"/>
          </a:xfrm>
          <a:prstGeom prst="roundRect">
            <a:avLst>
              <a:gd fmla="val 3409" name="adj"/>
            </a:avLst>
          </a:prstGeom>
          <a:solidFill>
            <a:schemeClr val="accent2"/>
          </a:solidFill>
          <a:ln>
            <a:noFill/>
          </a:ln>
          <a:effectLst>
            <a:outerShdw blurRad="203171" rotWithShape="0" algn="tl" dir="2700000" dist="75256">
              <a:srgbClr val="000000">
                <a:alpha val="40000"/>
              </a:srgbClr>
            </a:outerShdw>
          </a:effectLst>
        </p:spPr>
        <p:txBody>
          <a:bodyPr anchorCtr="0" anchor="ctr" bIns="180000" lIns="10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Advice and guidance from NHS knowledge base</a:t>
            </a:r>
            <a:endParaRPr/>
          </a:p>
        </p:txBody>
      </p:sp>
      <p:sp>
        <p:nvSpPr>
          <p:cNvPr descr="Books on shelf with solid fill" id="195" name="Google Shape;195;p39"/>
          <p:cNvSpPr/>
          <p:nvPr/>
        </p:nvSpPr>
        <p:spPr>
          <a:xfrm>
            <a:off x="5962462" y="2526774"/>
            <a:ext cx="914400" cy="914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96" name="Google Shape;196;p39"/>
          <p:cNvCxnSpPr/>
          <p:nvPr/>
        </p:nvCxnSpPr>
        <p:spPr>
          <a:xfrm>
            <a:off x="2941486" y="3075405"/>
            <a:ext cx="462666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97" name="Google Shape;197;p39"/>
          <p:cNvCxnSpPr/>
          <p:nvPr/>
        </p:nvCxnSpPr>
        <p:spPr>
          <a:xfrm>
            <a:off x="5279751" y="3057019"/>
            <a:ext cx="462666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8" name="Google Shape;198;p39"/>
          <p:cNvSpPr/>
          <p:nvPr/>
        </p:nvSpPr>
        <p:spPr>
          <a:xfrm>
            <a:off x="7692750" y="4048592"/>
            <a:ext cx="684000" cy="576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99" name="Google Shape;199;p39"/>
          <p:cNvCxnSpPr/>
          <p:nvPr/>
        </p:nvCxnSpPr>
        <p:spPr>
          <a:xfrm>
            <a:off x="5279751" y="4343402"/>
            <a:ext cx="462666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descr="Cloud with solid fill" id="200" name="Google Shape;200;p39"/>
          <p:cNvSpPr/>
          <p:nvPr/>
        </p:nvSpPr>
        <p:spPr>
          <a:xfrm>
            <a:off x="5823631" y="3771412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9"/>
          <p:cNvSpPr txBox="1"/>
          <p:nvPr/>
        </p:nvSpPr>
        <p:spPr>
          <a:xfrm>
            <a:off x="5646937" y="4522707"/>
            <a:ext cx="1285628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/>
          </a:p>
        </p:txBody>
      </p:sp>
      <p:cxnSp>
        <p:nvCxnSpPr>
          <p:cNvPr id="202" name="Google Shape;202;p39"/>
          <p:cNvCxnSpPr/>
          <p:nvPr/>
        </p:nvCxnSpPr>
        <p:spPr>
          <a:xfrm>
            <a:off x="6853326" y="4333306"/>
            <a:ext cx="462666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GB"/>
              <a:t>AI for Digital Transformation</a:t>
            </a:r>
            <a:endParaRPr/>
          </a:p>
        </p:txBody>
      </p:sp>
      <p:sp>
        <p:nvSpPr>
          <p:cNvPr id="209" name="Google Shape;209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GB" sz="3600"/>
              <a:t>Learning points so far: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</a:pPr>
            <a:r>
              <a:rPr lang="en-GB" sz="3600"/>
              <a:t>AI technologies are accessible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</a:pPr>
            <a:r>
              <a:rPr lang="en-GB" sz="3600"/>
              <a:t>Platforms like Microsoft Azure make pilots low cost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</a:pPr>
            <a:r>
              <a:rPr lang="en-GB" sz="3600"/>
              <a:t>NHS organisations can learn on the journey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</a:pPr>
            <a:r>
              <a:rPr lang="en-GB" sz="3600"/>
              <a:t>Staff and patients can benefit from simple use cases 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t/>
            </a:r>
            <a:endParaRPr sz="3600"/>
          </a:p>
          <a:p>
            <a:pPr indent="-514350" lvl="0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859541"/>
            <a:ext cx="7772400" cy="5006714"/>
          </a:xfrm>
          <a:prstGeom prst="roundRect">
            <a:avLst>
              <a:gd fmla="val 1864" name="adj"/>
            </a:avLst>
          </a:prstGeom>
          <a:noFill/>
          <a:ln>
            <a:noFill/>
          </a:ln>
          <a:effectLst>
            <a:outerShdw blurRad="236278" rotWithShape="0" algn="tl" dir="2700000" dist="79407">
              <a:srgbClr val="000000">
                <a:alpha val="40000"/>
              </a:srgbClr>
            </a:outerShdw>
          </a:effectLst>
        </p:spPr>
      </p:pic>
      <p:sp>
        <p:nvSpPr>
          <p:cNvPr id="216" name="Google Shape;216;p41"/>
          <p:cNvSpPr txBox="1"/>
          <p:nvPr/>
        </p:nvSpPr>
        <p:spPr>
          <a:xfrm>
            <a:off x="12790583" y="324997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168" l="0" r="0" t="176"/>
          <a:stretch/>
        </p:blipFill>
        <p:spPr>
          <a:xfrm>
            <a:off x="2209800" y="728420"/>
            <a:ext cx="7772400" cy="5269424"/>
          </a:xfrm>
          <a:prstGeom prst="roundRect">
            <a:avLst>
              <a:gd fmla="val 1864" name="adj"/>
            </a:avLst>
          </a:prstGeom>
          <a:noFill/>
          <a:ln>
            <a:noFill/>
          </a:ln>
          <a:effectLst>
            <a:outerShdw blurRad="236278" rotWithShape="0" algn="tl" dir="2700000" dist="79407">
              <a:srgbClr val="000000">
                <a:alpha val="40000"/>
              </a:srgbClr>
            </a:outerShdw>
          </a:effectLst>
        </p:spPr>
      </p:pic>
      <p:sp>
        <p:nvSpPr>
          <p:cNvPr id="223" name="Google Shape;223;p42"/>
          <p:cNvSpPr txBox="1"/>
          <p:nvPr/>
        </p:nvSpPr>
        <p:spPr>
          <a:xfrm>
            <a:off x="12790583" y="324997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2"/>
          <p:cNvSpPr/>
          <p:nvPr/>
        </p:nvSpPr>
        <p:spPr>
          <a:xfrm>
            <a:off x="772507" y="1450428"/>
            <a:ext cx="1891863" cy="1216226"/>
          </a:xfrm>
          <a:prstGeom prst="wedgeRoundRectCallout">
            <a:avLst>
              <a:gd fmla="val 55417" name="adj1"/>
              <a:gd fmla="val 84127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Shows results prioritised by multiple factors</a:t>
            </a:r>
            <a:endParaRPr/>
          </a:p>
        </p:txBody>
      </p:sp>
      <p:sp>
        <p:nvSpPr>
          <p:cNvPr id="225" name="Google Shape;225;p42"/>
          <p:cNvSpPr/>
          <p:nvPr/>
        </p:nvSpPr>
        <p:spPr>
          <a:xfrm>
            <a:off x="8610597" y="1713186"/>
            <a:ext cx="2383225" cy="1216226"/>
          </a:xfrm>
          <a:prstGeom prst="wedgeRoundRectCallout">
            <a:avLst>
              <a:gd fmla="val -65416" name="adj1"/>
              <a:gd fmla="val 85423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be copied and share with patients via email or directly</a:t>
            </a:r>
            <a:endParaRPr/>
          </a:p>
        </p:txBody>
      </p:sp>
      <p:sp>
        <p:nvSpPr>
          <p:cNvPr id="226" name="Google Shape;226;p42"/>
          <p:cNvSpPr/>
          <p:nvPr/>
        </p:nvSpPr>
        <p:spPr>
          <a:xfrm>
            <a:off x="599084" y="4929119"/>
            <a:ext cx="2743203" cy="1408618"/>
          </a:xfrm>
          <a:prstGeom prst="wedgeRoundRectCallout">
            <a:avLst>
              <a:gd fmla="val 33010" name="adj1"/>
              <a:gd fmla="val -67719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Information is constantly and automatically updated from source websites</a:t>
            </a:r>
            <a:endParaRPr/>
          </a:p>
        </p:txBody>
      </p:sp>
      <p:sp>
        <p:nvSpPr>
          <p:cNvPr id="227" name="Google Shape;227;p42"/>
          <p:cNvSpPr/>
          <p:nvPr/>
        </p:nvSpPr>
        <p:spPr>
          <a:xfrm>
            <a:off x="8430607" y="4258663"/>
            <a:ext cx="2743203" cy="1629809"/>
          </a:xfrm>
          <a:prstGeom prst="wedgeRoundRectCallout">
            <a:avLst>
              <a:gd fmla="val -66415" name="adj1"/>
              <a:gd fmla="val -41977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Internet-sourced results are also included to provide comprehensive and up-to-date results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4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4056" l="6028" r="16327" t="20032"/>
          <a:stretch/>
        </p:blipFill>
        <p:spPr>
          <a:xfrm>
            <a:off x="1150882" y="1657661"/>
            <a:ext cx="10121462" cy="3184630"/>
          </a:xfrm>
          <a:prstGeom prst="roundRect">
            <a:avLst>
              <a:gd fmla="val 1864" name="adj"/>
            </a:avLst>
          </a:prstGeom>
          <a:noFill/>
          <a:ln>
            <a:noFill/>
          </a:ln>
          <a:effectLst>
            <a:outerShdw blurRad="236278" rotWithShape="0" algn="tl" dir="2700000" dist="79407">
              <a:srgbClr val="000000">
                <a:alpha val="40000"/>
              </a:srgbClr>
            </a:outerShdw>
          </a:effectLst>
        </p:spPr>
      </p:pic>
      <p:sp>
        <p:nvSpPr>
          <p:cNvPr id="234" name="Google Shape;234;p43"/>
          <p:cNvSpPr txBox="1"/>
          <p:nvPr/>
        </p:nvSpPr>
        <p:spPr>
          <a:xfrm>
            <a:off x="12790583" y="324997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3"/>
          <p:cNvSpPr/>
          <p:nvPr/>
        </p:nvSpPr>
        <p:spPr>
          <a:xfrm>
            <a:off x="630618" y="614856"/>
            <a:ext cx="1891863" cy="1216226"/>
          </a:xfrm>
          <a:prstGeom prst="wedgeRoundRectCallout">
            <a:avLst>
              <a:gd fmla="val -1250" name="adj1"/>
              <a:gd fmla="val 103571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can be prioritised and flagged</a:t>
            </a:r>
            <a:endParaRPr/>
          </a:p>
        </p:txBody>
      </p:sp>
      <p:sp>
        <p:nvSpPr>
          <p:cNvPr id="236" name="Google Shape;236;p43"/>
          <p:cNvSpPr/>
          <p:nvPr/>
        </p:nvSpPr>
        <p:spPr>
          <a:xfrm>
            <a:off x="7646277" y="614856"/>
            <a:ext cx="3915106" cy="1216226"/>
          </a:xfrm>
          <a:prstGeom prst="wedgeRoundRectCallout">
            <a:avLst>
              <a:gd fmla="val 19594" name="adj1"/>
              <a:gd fmla="val 129496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Models provide easy-to-read service summaries, automatically updated from source websites</a:t>
            </a:r>
            <a:endParaRPr/>
          </a:p>
        </p:txBody>
      </p:sp>
      <p:sp>
        <p:nvSpPr>
          <p:cNvPr id="237" name="Google Shape;237;p43"/>
          <p:cNvSpPr/>
          <p:nvPr/>
        </p:nvSpPr>
        <p:spPr>
          <a:xfrm>
            <a:off x="846080" y="4918838"/>
            <a:ext cx="3405351" cy="1324306"/>
          </a:xfrm>
          <a:prstGeom prst="wedgeRoundRectCallout">
            <a:avLst>
              <a:gd fmla="val -8748" name="adj1"/>
              <a:gd fmla="val -66001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Contact details are automatically discovered and formatted by AI scraping agents</a:t>
            </a:r>
            <a:endParaRPr/>
          </a:p>
        </p:txBody>
      </p:sp>
      <p:sp>
        <p:nvSpPr>
          <p:cNvPr id="238" name="Google Shape;238;p43"/>
          <p:cNvSpPr/>
          <p:nvPr/>
        </p:nvSpPr>
        <p:spPr>
          <a:xfrm>
            <a:off x="4840014" y="4592226"/>
            <a:ext cx="3405351" cy="1216226"/>
          </a:xfrm>
          <a:prstGeom prst="wedgeRoundRectCallout">
            <a:avLst>
              <a:gd fmla="val -47699" name="adj1"/>
              <a:gd fmla="val -81794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Growth hub staff can add manual information (like Referral details) for specific entries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4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2878" l="5986" r="5727" t="9732"/>
          <a:stretch/>
        </p:blipFill>
        <p:spPr>
          <a:xfrm>
            <a:off x="1324300" y="1652091"/>
            <a:ext cx="9317420" cy="3402146"/>
          </a:xfrm>
          <a:prstGeom prst="roundRect">
            <a:avLst>
              <a:gd fmla="val 1864" name="adj"/>
            </a:avLst>
          </a:prstGeom>
          <a:noFill/>
          <a:ln>
            <a:noFill/>
          </a:ln>
          <a:effectLst>
            <a:outerShdw blurRad="236278" rotWithShape="0" algn="tl" dir="2700000" dist="79407">
              <a:srgbClr val="000000">
                <a:alpha val="40000"/>
              </a:srgbClr>
            </a:outerShdw>
          </a:effectLst>
        </p:spPr>
      </p:pic>
      <p:sp>
        <p:nvSpPr>
          <p:cNvPr id="245" name="Google Shape;245;p44"/>
          <p:cNvSpPr txBox="1"/>
          <p:nvPr/>
        </p:nvSpPr>
        <p:spPr>
          <a:xfrm>
            <a:off x="12790583" y="324997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4"/>
          <p:cNvSpPr/>
          <p:nvPr/>
        </p:nvSpPr>
        <p:spPr>
          <a:xfrm>
            <a:off x="1550281" y="1532710"/>
            <a:ext cx="2517222" cy="1216226"/>
          </a:xfrm>
          <a:prstGeom prst="wedgeRoundRectCallout">
            <a:avLst>
              <a:gd fmla="val -1250" name="adj1"/>
              <a:gd fmla="val 103571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“Tell me more about…”</a:t>
            </a:r>
            <a:endParaRPr/>
          </a:p>
        </p:txBody>
      </p:sp>
      <p:sp>
        <p:nvSpPr>
          <p:cNvPr id="247" name="Google Shape;247;p44"/>
          <p:cNvSpPr/>
          <p:nvPr/>
        </p:nvSpPr>
        <p:spPr>
          <a:xfrm>
            <a:off x="4507621" y="1264033"/>
            <a:ext cx="2950777" cy="927258"/>
          </a:xfrm>
          <a:prstGeom prst="wedgeRoundRectCallout">
            <a:avLst>
              <a:gd fmla="val 20128" name="adj1"/>
              <a:gd fmla="val 95491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“Is the service free”</a:t>
            </a:r>
            <a:endParaRPr/>
          </a:p>
        </p:txBody>
      </p:sp>
      <p:sp>
        <p:nvSpPr>
          <p:cNvPr id="248" name="Google Shape;248;p44"/>
          <p:cNvSpPr/>
          <p:nvPr/>
        </p:nvSpPr>
        <p:spPr>
          <a:xfrm>
            <a:off x="1760481" y="4392084"/>
            <a:ext cx="3126830" cy="1324306"/>
          </a:xfrm>
          <a:prstGeom prst="wedgeRoundRectCallout">
            <a:avLst>
              <a:gd fmla="val -1804" name="adj1"/>
              <a:gd fmla="val -93382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“Is this service suitable for…”</a:t>
            </a:r>
            <a:endParaRPr/>
          </a:p>
        </p:txBody>
      </p:sp>
      <p:sp>
        <p:nvSpPr>
          <p:cNvPr id="249" name="Google Shape;249;p44"/>
          <p:cNvSpPr/>
          <p:nvPr/>
        </p:nvSpPr>
        <p:spPr>
          <a:xfrm>
            <a:off x="7458398" y="4058597"/>
            <a:ext cx="2333296" cy="1216226"/>
          </a:xfrm>
          <a:prstGeom prst="wedgeRoundRectCallout">
            <a:avLst>
              <a:gd fmla="val -47699" name="adj1"/>
              <a:gd fmla="val -81794" name="adj2"/>
              <a:gd fmla="val 16667" name="adj3"/>
            </a:avLst>
          </a:prstGeom>
          <a:gradFill>
            <a:gsLst>
              <a:gs pos="0">
                <a:srgbClr val="4771C2"/>
              </a:gs>
              <a:gs pos="50000">
                <a:srgbClr val="005DC1"/>
              </a:gs>
              <a:gs pos="100000">
                <a:srgbClr val="0053B2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“Which bus goes there”</a:t>
            </a:r>
            <a:endParaRPr/>
          </a:p>
        </p:txBody>
      </p:sp>
      <p:sp>
        <p:nvSpPr>
          <p:cNvPr id="250" name="Google Shape;250;p44"/>
          <p:cNvSpPr txBox="1"/>
          <p:nvPr>
            <p:ph type="title"/>
          </p:nvPr>
        </p:nvSpPr>
        <p:spPr>
          <a:xfrm>
            <a:off x="557349" y="444138"/>
            <a:ext cx="11103428" cy="1088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/>
              <a:t>Ask follow-up questions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3769" y="1481030"/>
            <a:ext cx="7284462" cy="3073613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35000" kx="0" rotWithShape="0" algn="bl" stA="10000" stPos="0" sy="-100000" ky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effield CCG - White">
  <a:themeElements>
    <a:clrScheme name="NHS SY ICS">
      <a:dk1>
        <a:srgbClr val="000000"/>
      </a:dk1>
      <a:lt1>
        <a:srgbClr val="FFFFFF"/>
      </a:lt1>
      <a:dk2>
        <a:srgbClr val="5F497B"/>
      </a:dk2>
      <a:lt2>
        <a:srgbClr val="E7E6E6"/>
      </a:lt2>
      <a:accent1>
        <a:srgbClr val="30859C"/>
      </a:accent1>
      <a:accent2>
        <a:srgbClr val="883043"/>
      </a:accent2>
      <a:accent3>
        <a:srgbClr val="A4A4A4"/>
      </a:accent3>
      <a:accent4>
        <a:srgbClr val="D6A318"/>
      </a:accent4>
      <a:accent5>
        <a:srgbClr val="47BDAE"/>
      </a:accent5>
      <a:accent6>
        <a:srgbClr val="92D050"/>
      </a:accent6>
      <a:hlink>
        <a:srgbClr val="285FCC"/>
      </a:hlink>
      <a:folHlink>
        <a:srgbClr val="5576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oftware Team Theme1">
  <a:themeElements>
    <a:clrScheme name="NHS Colours">
      <a:dk1>
        <a:srgbClr val="000000"/>
      </a:dk1>
      <a:lt1>
        <a:srgbClr val="FFFFFF"/>
      </a:lt1>
      <a:dk2>
        <a:srgbClr val="415563"/>
      </a:dk2>
      <a:lt2>
        <a:srgbClr val="E8EDEE"/>
      </a:lt2>
      <a:accent1>
        <a:srgbClr val="005EB8"/>
      </a:accent1>
      <a:accent2>
        <a:srgbClr val="006747"/>
      </a:accent2>
      <a:accent3>
        <a:srgbClr val="003087"/>
      </a:accent3>
      <a:accent4>
        <a:srgbClr val="78BE20"/>
      </a:accent4>
      <a:accent5>
        <a:srgbClr val="AE2473"/>
      </a:accent5>
      <a:accent6>
        <a:srgbClr val="ED8B00"/>
      </a:accent6>
      <a:hlink>
        <a:srgbClr val="005EB8"/>
      </a:hlink>
      <a:folHlink>
        <a:srgbClr val="005E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eme1">
  <a:themeElements>
    <a:clrScheme name="NHS Colours">
      <a:dk1>
        <a:srgbClr val="000000"/>
      </a:dk1>
      <a:lt1>
        <a:srgbClr val="FFFFFF"/>
      </a:lt1>
      <a:dk2>
        <a:srgbClr val="415563"/>
      </a:dk2>
      <a:lt2>
        <a:srgbClr val="E8EDEE"/>
      </a:lt2>
      <a:accent1>
        <a:srgbClr val="005EB8"/>
      </a:accent1>
      <a:accent2>
        <a:srgbClr val="006747"/>
      </a:accent2>
      <a:accent3>
        <a:srgbClr val="003087"/>
      </a:accent3>
      <a:accent4>
        <a:srgbClr val="78BE20"/>
      </a:accent4>
      <a:accent5>
        <a:srgbClr val="AE2473"/>
      </a:accent5>
      <a:accent6>
        <a:srgbClr val="ED8B00"/>
      </a:accent6>
      <a:hlink>
        <a:srgbClr val="005EB8"/>
      </a:hlink>
      <a:folHlink>
        <a:srgbClr val="005E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